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ПРЕЗЕНТАЦИЯ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66928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804672"/>
            <a:ext cx="822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0D4FF"/>
                </a:solidFill>
                <a:latin typeface="Aptos Display"/>
              </a:rPr>
              <a:t>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98755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 Display"/>
              </a:rPr>
              <a:t>SignBridge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88336"/>
            <a:ext cx="68580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Aptos"/>
              </a:rPr>
              <a:t>Локальная платформа для распознавания жестов и
визуализации коммуникации в реальном времени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2487168" cy="283464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717036"/>
            <a:ext cx="234086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0D4FF"/>
                </a:solidFill>
                <a:latin typeface="Aptos"/>
              </a:rPr>
              <a:t>MediaPipe + FastAPI +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3657600"/>
            <a:ext cx="1572768" cy="283464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717036"/>
            <a:ext cx="1426464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8B5CF6"/>
                </a:solidFill>
                <a:latin typeface="Aptos"/>
              </a:rPr>
              <a:t>PWA и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9472" y="3657600"/>
            <a:ext cx="1243584" cy="283464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3717036"/>
            <a:ext cx="109728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ptos"/>
              </a:rPr>
              <a:t>Local-first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806440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Техническая презентация проекта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1298448"/>
            <a:ext cx="210312" cy="210312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1005840"/>
            <a:ext cx="173736" cy="17373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60" y="1600200"/>
            <a:ext cx="219456" cy="21945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2450592"/>
            <a:ext cx="182880" cy="1828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7080" y="2788920"/>
            <a:ext cx="146304" cy="146304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60" y="3246120"/>
            <a:ext cx="182880" cy="1828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21240" y="3703320"/>
            <a:ext cx="219456" cy="21945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0" y="4590288"/>
            <a:ext cx="164592" cy="16459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8412480" y="1170432"/>
            <a:ext cx="1042416" cy="32004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28048" y="1179576"/>
            <a:ext cx="1005840" cy="576072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90304" y="2606040"/>
            <a:ext cx="1673352" cy="301752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49640" y="3355848"/>
            <a:ext cx="1490472" cy="466343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21824" y="3858768"/>
            <a:ext cx="850392" cy="841248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75904" y="1508760"/>
            <a:ext cx="813816" cy="1033272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18120" y="5285232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Жест → смысл → понятная коммуникация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01.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Коммуникация должна быть доступной без посредников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SignBridge исследует практический путь от видеопотока руки к понятному сообщению.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23160"/>
            <a:ext cx="3401568" cy="23774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23160"/>
            <a:ext cx="54864" cy="237744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61488"/>
            <a:ext cx="502920" cy="50292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5029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80B14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958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Барьер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Жестовый язык требует визуального канала и не всегда доступен собеседнику.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423160"/>
            <a:ext cx="3401568" cy="23774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2423160"/>
            <a:ext cx="54864" cy="2377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0016" y="2761488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98648"/>
            <a:ext cx="5029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80B14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52958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Задержка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3968496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Даже точное распознавание теряет ценность, когда видеопоток и контур руки отстают.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5592" y="2423160"/>
            <a:ext cx="3401568" cy="23774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2423160"/>
            <a:ext cx="54864" cy="2377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85632" y="276148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898648"/>
            <a:ext cx="5029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80B14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52958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Доверие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968496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Пользователю нужны понятные статусы, предсказуемость и возможность видеть ход распознавания.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394960"/>
            <a:ext cx="10607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Цель проекта: сохранить живое ощущение камеры и превратить движения руки в удобный двусторонний интерфейс.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02.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Один поток, четыре понятных шага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Пользователь видит происходящее, система распознаёт жест, а результат сразу превращается в коммуникационное действие.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2487168" cy="2468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31720"/>
            <a:ext cx="54864" cy="246888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ptos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127248"/>
            <a:ext cx="493776" cy="493776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Камера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Живой видеопоток и локальный контур 21 точки руки.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3547872"/>
            <a:ext cx="2743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29000" y="2331720"/>
            <a:ext cx="2487168" cy="2468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331720"/>
            <a:ext cx="54864" cy="24688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62432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Aptos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3703320" y="3127248"/>
            <a:ext cx="493776" cy="493776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388620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Распознавание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425196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Статические и динамические жесты в серверном движке.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1031" y="3547872"/>
            <a:ext cx="274321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91072" y="2331720"/>
            <a:ext cx="2487168" cy="2468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2331720"/>
            <a:ext cx="54864" cy="24688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262432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ptos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3127248"/>
            <a:ext cx="493776" cy="493776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388620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Смысл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425196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Перевод, накопление слова, история результатов.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33104" y="3547872"/>
            <a:ext cx="2743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53144" y="2331720"/>
            <a:ext cx="2487168" cy="2468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53144" y="2331720"/>
            <a:ext cx="54864" cy="24688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9176" y="2624328"/>
            <a:ext cx="5029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32" name="Oval 31"/>
          <p:cNvSpPr/>
          <p:nvPr/>
        </p:nvSpPr>
        <p:spPr>
          <a:xfrm>
            <a:off x="9427464" y="3127248"/>
            <a:ext cx="493776" cy="493776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9176" y="388620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Ответ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425196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Canvas-аватар и TTS-план для обратной коммуникации.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440680"/>
            <a:ext cx="10241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Принцип UX: обработка не должна скрывать или подменять живое изображение с камеры.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03. 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Лёгкий фронтенд, прозрачный API, локальный движок жестов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Система разделяет визуальную обратную связь, распознавание и анимацию аватара.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95728"/>
            <a:ext cx="54864" cy="21945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97480"/>
            <a:ext cx="1600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Браузер / PWA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83280"/>
            <a:ext cx="1645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HTML + CSS + Vanilla JS
Canvas overlay · Service Worker · Web Speech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395728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395728"/>
            <a:ext cx="54864" cy="21945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697480"/>
            <a:ext cx="1600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Два WebSocket-канала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83280"/>
            <a:ext cx="1645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/ws/gesture: JPEG-кадры и результат
/ws/avatar: текст, жестовый план, аудио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395728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395728"/>
            <a:ext cx="54864" cy="2194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2697480"/>
            <a:ext cx="1600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83280"/>
            <a:ext cx="1645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Валидация · ограничение размеров · CORS · health/readiness
REST /api/v1 + статическая раздача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2395728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2395728"/>
            <a:ext cx="54864" cy="2194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2697480"/>
            <a:ext cx="1600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Gesture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3383280"/>
            <a:ext cx="164592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MediaPipe Hand Landmarker · optional sklearn
OpenCV fallback · dynamic motion buffer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24912" y="3493008"/>
            <a:ext cx="73152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96712" y="3493008"/>
            <a:ext cx="73152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68512" y="3493008"/>
            <a:ext cx="73152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5257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Модели и обработка остаются на локальной машине; для базового сценария не нужен облачный inference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04. КАМЕРА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Два контура обработки вместо одного тяжёлого кадра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Отрисовка нужна пользователю прямо сейчас; классификация может идти отдельным контролируемым потоком.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166360" cy="31089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31720"/>
            <a:ext cx="54864" cy="31089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Контур визуальной обратной связи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44952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Aptos"/>
              </a:rPr>
              <a:t>Browser MediaPipe Hand Landmarker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4343400" cy="1143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Берёт текущий декодированный кадр video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Рисует 21 точку и связи на canvas-overlay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Ограничен до 15 FPS, чтобы не вытеснять распознавание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  <a:latin typeface="Aptos Display"/>
              </a:rPr>
              <a:t>15 FPS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локальный контур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75488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8B5CF6"/>
                </a:solidFill>
                <a:latin typeface="Aptos Display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166360"/>
            <a:ext cx="1234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landmark-точка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754880"/>
            <a:ext cx="1143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Aptos Display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16636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JPEG-overlay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31720"/>
            <a:ext cx="5166360" cy="31089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331720"/>
            <a:ext cx="54864" cy="31089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633472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Контур распознавания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44952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WebSocket → FastAPI → GestureEngine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20440"/>
            <a:ext cx="4343400" cy="1143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Сжимает и отправляет кадр только при свободном запросе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Получает жест, уверенность, перевод и накопленное слово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Не передаёт обратно аннотированное видео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7548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8B5CF6"/>
                </a:solidFill>
                <a:latin typeface="Aptos Display"/>
              </a:rPr>
              <a:t>640×480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1663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размер кадра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754880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Aptos Display"/>
              </a:rPr>
              <a:t>80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5166360"/>
            <a:ext cx="1371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интервал отправки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4754880"/>
            <a:ext cx="1143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Aptos Display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516636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кадр in-flight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05. РАСПОЗНАВАНИЕ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Пайплайн объединяет landmarks, классификацию и движение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Движок выбирает доступный режим и не теряет работоспособность при отсутствии модели.</a:t>
            </a:r>
          </a:p>
        </p:txBody>
      </p:sp>
      <p:sp>
        <p:nvSpPr>
          <p:cNvPr id="8" name="Oval 7"/>
          <p:cNvSpPr/>
          <p:nvPr/>
        </p:nvSpPr>
        <p:spPr>
          <a:xfrm>
            <a:off x="1069848" y="2560320"/>
            <a:ext cx="1115568" cy="1115568"/>
          </a:xfrm>
          <a:prstGeom prst="ellipse">
            <a:avLst/>
          </a:prstGeom>
          <a:solidFill>
            <a:srgbClr val="17203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7" y="2880360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Aptos"/>
              </a:rPr>
              <a:t>JPEG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977639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decode + size limits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8568" y="3127248"/>
            <a:ext cx="704088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355848" y="2560320"/>
            <a:ext cx="1115568" cy="1115568"/>
          </a:xfrm>
          <a:prstGeom prst="ellipse">
            <a:avLst/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2880360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8B5CF6"/>
                </a:solidFill>
                <a:latin typeface="Aptos"/>
              </a:rPr>
              <a:t>RGB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977639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MediaPipe image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44568" y="3127248"/>
            <a:ext cx="704088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641848" y="2560320"/>
            <a:ext cx="1115568" cy="1115568"/>
          </a:xfrm>
          <a:prstGeom prst="ellipse">
            <a:avLst/>
          </a:prstGeom>
          <a:solidFill>
            <a:srgbClr val="1720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2880360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ptos"/>
              </a:rPr>
              <a:t>21×3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977639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x, y, z landmarks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30568" y="3127248"/>
            <a:ext cx="704088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927848" y="2560320"/>
            <a:ext cx="1115568" cy="1115568"/>
          </a:xfrm>
          <a:prstGeom prst="ellipse">
            <a:avLst/>
          </a:prstGeom>
          <a:solidFill>
            <a:srgbClr val="17203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7" y="2880360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3977639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buffer до 30 кадров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16567" y="3127248"/>
            <a:ext cx="704088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213848" y="2560320"/>
            <a:ext cx="1115568" cy="1115568"/>
          </a:xfrm>
          <a:prstGeom prst="ellipse">
            <a:avLst/>
          </a:prstGeom>
          <a:solidFill>
            <a:srgbClr val="172033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7" y="2880360"/>
            <a:ext cx="8412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C4899"/>
                </a:solidFill>
                <a:latin typeface="Aptos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3977639"/>
            <a:ext cx="1828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gesture + confidence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8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54880"/>
            <a:ext cx="54864" cy="74980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Динамические жесты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919472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Правила по траектории wrist и последовательности landmarks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475488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4754880"/>
            <a:ext cx="54864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4956048"/>
            <a:ext cx="1371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Статические знаки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91947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Optional sklearn classifier; fallback к эвристикам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6448" y="4754880"/>
            <a:ext cx="3273552" cy="74980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6448" y="4754880"/>
            <a:ext cx="54864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4956048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919472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OpenCV: skin mask, contour, convexity defects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06. ОПТИМИЗАЦИЯ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Почему контур раньше отставал и как это исправлено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Ключевое решение: отделить отрисовку руки от возврата обработанного видеокадра.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13432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13432"/>
            <a:ext cx="54864" cy="320040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Было: серверный JPEG-overlay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4389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Aptos"/>
              </a:rPr>
              <a:t>video → JPEG → WebSocket → inference → JPEG →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43434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Локальное видео скрывалось отстающим серверным снимком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Каждый результат требовал дополнительного JPEG-кодирования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Задержка визуально выглядела как медленная камера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65192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Проблема: связь между качеством inference и плавностью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13432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313432"/>
            <a:ext cx="54864" cy="3200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633472"/>
            <a:ext cx="4434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Теперь: локальный overlay + серверный 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090672"/>
            <a:ext cx="4389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ptos"/>
              </a:rPr>
              <a:t>video → browser landmarks → canvas     |     frame → server →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566160"/>
            <a:ext cx="434340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Canvas отражает текущий видеокадр, а не прошлый ответ сервера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В сеть уходит только кадр для распознавания, без annotated_frame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Backpressure: один запрос в обработке, timeout на восстановление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4965192"/>
            <a:ext cx="4251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Aptos"/>
              </a:rPr>
              <a:t>Результат: визуальная отзывчивость и распознавание можно оптимизировать независимо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07. ПРОДУКТОВЫЙ ИНТЕРФЕЙС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Не просто demo-экран, а рабочее пространство для диалога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Фронтенд спроектирован вокруг повторяющегося действия: показать жест, проверить результат, передать смысл.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486400" cy="3337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54864" cy="33375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42032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Режим распознавания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297180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050810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720" y="3493008"/>
            <a:ext cx="411480" cy="41148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44368" y="3657600"/>
            <a:ext cx="292608" cy="29260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606040" y="3694176"/>
            <a:ext cx="475488" cy="100584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70432" y="3246120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ptos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663440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Контур руки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999232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Распознанный жест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3401568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HELLO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53712" y="3977639"/>
            <a:ext cx="1051560" cy="82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4224528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96%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230368"/>
            <a:ext cx="4663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Накопленное слово · история · языковые переключатели · TTS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240280"/>
            <a:ext cx="4910328" cy="3337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240280"/>
            <a:ext cx="54864" cy="33375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2542032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Режим аватара</a:t>
            </a:r>
          </a:p>
        </p:txBody>
      </p:sp>
      <p:sp>
        <p:nvSpPr>
          <p:cNvPr id="25" name="Oval 24"/>
          <p:cNvSpPr/>
          <p:nvPr/>
        </p:nvSpPr>
        <p:spPr>
          <a:xfrm>
            <a:off x="8375904" y="2999232"/>
            <a:ext cx="1051560" cy="1051560"/>
          </a:xfrm>
          <a:prstGeom prst="ellipse">
            <a:avLst/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>
            <a:off x="7973568" y="3886200"/>
            <a:ext cx="1847088" cy="1051560"/>
          </a:xfrm>
          <a:prstGeom prst="arc">
            <a:avLst/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4846320"/>
            <a:ext cx="39959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Text → gesture plan → canvas animation → optional audio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12080"/>
            <a:ext cx="3995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Поддерживаемые языки интерфейса: RU · EN · UZ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08. ИНТЕГРАЦИЯ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API разделяет здоровье системы, перевод, голос и realtime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Маршруты имеют версионирование /api/v1; WebSocket остаётся для интерактивных сценариев.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231136"/>
            <a:ext cx="5943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ptos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03704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onsolas"/>
              </a:rPr>
              <a:t>/api/v1/health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03704"/>
            <a:ext cx="5349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Статус сервиса и режим распознавания</a:t>
            </a:r>
          </a:p>
        </p:txBody>
      </p:sp>
      <p:sp>
        <p:nvSpPr>
          <p:cNvPr id="12" name="Oval 11"/>
          <p:cNvSpPr/>
          <p:nvPr/>
        </p:nvSpPr>
        <p:spPr>
          <a:xfrm>
            <a:off x="10817352" y="2249424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724912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07208"/>
            <a:ext cx="5943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0D4FF"/>
                </a:solidFill>
                <a:latin typeface="Aptos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79776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onsolas"/>
              </a:rPr>
              <a:t>/api/v1/vocabulary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79776"/>
            <a:ext cx="5349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Доступные глоссы и словарь</a:t>
            </a:r>
          </a:p>
        </p:txBody>
      </p:sp>
      <p:sp>
        <p:nvSpPr>
          <p:cNvPr id="17" name="Oval 16"/>
          <p:cNvSpPr/>
          <p:nvPr/>
        </p:nvSpPr>
        <p:spPr>
          <a:xfrm>
            <a:off x="10817352" y="2825496"/>
            <a:ext cx="109728" cy="109728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300984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83280"/>
            <a:ext cx="5943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8B5CF6"/>
                </a:solidFill>
                <a:latin typeface="Aptos"/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55848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onsolas"/>
              </a:rPr>
              <a:t>/api/v1/translate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355848"/>
            <a:ext cx="5349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Проверяемый план жестовой анимации</a:t>
            </a:r>
          </a:p>
        </p:txBody>
      </p:sp>
      <p:sp>
        <p:nvSpPr>
          <p:cNvPr id="22" name="Oval 21"/>
          <p:cNvSpPr/>
          <p:nvPr/>
        </p:nvSpPr>
        <p:spPr>
          <a:xfrm>
            <a:off x="10817352" y="3401568"/>
            <a:ext cx="109728" cy="10972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3877056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59352"/>
            <a:ext cx="5943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Aptos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931920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onsolas"/>
              </a:rPr>
              <a:t>/api/v1/tts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931920"/>
            <a:ext cx="5349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План аватара и аудио</a:t>
            </a:r>
          </a:p>
        </p:txBody>
      </p:sp>
      <p:sp>
        <p:nvSpPr>
          <p:cNvPr id="27" name="Oval 26"/>
          <p:cNvSpPr/>
          <p:nvPr/>
        </p:nvSpPr>
        <p:spPr>
          <a:xfrm>
            <a:off x="10817352" y="397764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4453128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535424"/>
            <a:ext cx="5943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EC4899"/>
                </a:solidFill>
                <a:latin typeface="Aptos"/>
              </a:rPr>
              <a:t>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onsolas"/>
              </a:rPr>
              <a:t>/ws/gesture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507992"/>
            <a:ext cx="5349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Кадр → gesture, confidence, translation, word</a:t>
            </a:r>
          </a:p>
        </p:txBody>
      </p:sp>
      <p:sp>
        <p:nvSpPr>
          <p:cNvPr id="32" name="Oval 31"/>
          <p:cNvSpPr/>
          <p:nvPr/>
        </p:nvSpPr>
        <p:spPr>
          <a:xfrm>
            <a:off x="10817352" y="4553712"/>
            <a:ext cx="109728" cy="109728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" y="5029200"/>
            <a:ext cx="713232" cy="310896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111496"/>
            <a:ext cx="5943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ptos"/>
              </a:rPr>
              <a:t>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084064"/>
            <a:ext cx="2971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onsolas"/>
              </a:rPr>
              <a:t>/ws/avatar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084064"/>
            <a:ext cx="5349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Текст → sequence + optional audio</a:t>
            </a:r>
          </a:p>
        </p:txBody>
      </p:sp>
      <p:sp>
        <p:nvSpPr>
          <p:cNvPr id="37" name="Oval 36"/>
          <p:cNvSpPr/>
          <p:nvPr/>
        </p:nvSpPr>
        <p:spPr>
          <a:xfrm>
            <a:off x="10817352" y="5129784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9788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Инженерный акцент: валидация payload, пределы размера кадров и WebSocket-origin policy снижают риск непредсказуемой нагрузки.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09. НАДЁЖНОСТЬ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Local-first развёртывание и контролируемые границы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Проект не позиционируется как сертифицированный переводчик: это технический прототип с прозрачными ограничениями.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212080" cy="11704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54864" cy="1170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19" y="2551176"/>
            <a:ext cx="457200" cy="4572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505456"/>
            <a:ext cx="3383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Локальная 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16352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Hand Landmarker загружается на машину; распознавание не зависит от внешнего inference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40280"/>
            <a:ext cx="5212080" cy="11704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240280"/>
            <a:ext cx="54864" cy="1170432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2551176"/>
            <a:ext cx="457200" cy="45720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505456"/>
            <a:ext cx="3383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Ограничения входа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16352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Размеры WebSocket-сообщений, JPEG-кадров и разрешения проверяются до обработки.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212080" cy="11704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54864" cy="11704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19" y="4151376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105656"/>
            <a:ext cx="3383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16552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При недоступности MediaPipe движок переключается на OpenCV-контуры и эвристики.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40480"/>
            <a:ext cx="5212080" cy="1170432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840480"/>
            <a:ext cx="54864" cy="117043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9400" y="4151376"/>
            <a:ext cx="457200" cy="4572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105656"/>
            <a:ext cx="3383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416552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Service Worker кэширует shell приложения для повторных запусков и offline-сценариев.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715000"/>
            <a:ext cx="106070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Deployment: Windows launcher → virtual environment → model download → Uvicorn → localhost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10.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Сценарий показа на 90 секунд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Демонстрация построена так, чтобы аудитория видела и технологию, и пользовательскую ценность.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Aptos"/>
              </a:rPr>
              <a:t>00–15 c</a:t>
            </a:r>
          </a:p>
        </p:txBody>
      </p:sp>
      <p:sp>
        <p:nvSpPr>
          <p:cNvPr id="9" name="Oval 8"/>
          <p:cNvSpPr/>
          <p:nvPr/>
        </p:nvSpPr>
        <p:spPr>
          <a:xfrm>
            <a:off x="1847088" y="2176272"/>
            <a:ext cx="274320" cy="274320"/>
          </a:xfrm>
          <a:prstGeom prst="ellipse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984248" y="2450591"/>
            <a:ext cx="0" cy="402336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23160" y="2121408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Открыть localhost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21408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Показать статус готовности, PWA-интерфейс и выбор языка.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9864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Aptos"/>
              </a:rPr>
              <a:t>15–35 c</a:t>
            </a:r>
          </a:p>
        </p:txBody>
      </p:sp>
      <p:sp>
        <p:nvSpPr>
          <p:cNvPr id="14" name="Oval 13"/>
          <p:cNvSpPr/>
          <p:nvPr/>
        </p:nvSpPr>
        <p:spPr>
          <a:xfrm>
            <a:off x="1847088" y="2880360"/>
            <a:ext cx="274320" cy="27432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984248" y="3154679"/>
            <a:ext cx="0" cy="402336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3160" y="2825496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Включить камеру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25496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Контур руки появляется поверх живого видео без подмены кадра.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02736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35–55 c</a:t>
            </a:r>
          </a:p>
        </p:txBody>
      </p:sp>
      <p:sp>
        <p:nvSpPr>
          <p:cNvPr id="19" name="Oval 18"/>
          <p:cNvSpPr/>
          <p:nvPr/>
        </p:nvSpPr>
        <p:spPr>
          <a:xfrm>
            <a:off x="1847088" y="3584448"/>
            <a:ext cx="274320" cy="2743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984248" y="3858768"/>
            <a:ext cx="0" cy="402336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23160" y="352958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Показать жест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29584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Уверенность, перевод и история обновляются в интерфейсе.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06824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55–75 c</a:t>
            </a:r>
          </a:p>
        </p:txBody>
      </p:sp>
      <p:sp>
        <p:nvSpPr>
          <p:cNvPr id="24" name="Oval 23"/>
          <p:cNvSpPr/>
          <p:nvPr/>
        </p:nvSpPr>
        <p:spPr>
          <a:xfrm>
            <a:off x="1847088" y="4288536"/>
            <a:ext cx="274320" cy="2743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984248" y="4562856"/>
            <a:ext cx="0" cy="402336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23160" y="4233672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Собрать слово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33672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Накопление букв демонстрирует переход от жеста к сообщению.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1091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Aptos"/>
              </a:rPr>
              <a:t>75–90 c</a:t>
            </a:r>
          </a:p>
        </p:txBody>
      </p:sp>
      <p:sp>
        <p:nvSpPr>
          <p:cNvPr id="29" name="Oval 28"/>
          <p:cNvSpPr/>
          <p:nvPr/>
        </p:nvSpPr>
        <p:spPr>
          <a:xfrm>
            <a:off x="1847088" y="4992623"/>
            <a:ext cx="274320" cy="27432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937759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Ответ аватара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37759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Текст превращается в жестовый план и визуальную обратную коммуникацию.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11. КАЧЕСТВО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Что уже проверяется и что нельзя обещать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Техническая честность важнее красивой демонстрации: у распознавания есть измеримые риски и границы применимости.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67712"/>
            <a:ext cx="5166360" cy="2971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67712"/>
            <a:ext cx="54864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Уже заложено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36392"/>
            <a:ext cx="4343400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Python compileall и JavaScript syntax checks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Smoke-тесты API и планировщика жестовых последовательностей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Health / readiness endpoints и явный recognition_mode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Timeout/backpressure для кадра в обработке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67712"/>
            <a:ext cx="5166360" cy="2971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267712"/>
            <a:ext cx="54864" cy="2971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587752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Нужно валидировать перед пилотом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136392"/>
            <a:ext cx="4343400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Точность на целевой аудитории и конкретном жестовом языке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Освещение, ракурс, скорость движения, частичное перекрытие руки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Нагрузку на слабых устройствах при одновременном client/server inference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UX-исследование с носителями жестового языка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15000"/>
            <a:ext cx="105613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Вывод: прототип демонстрирует архитектурную траекторию, а не заменяет участие экспертов и валидацию словаря.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12.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7899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 Display"/>
              </a:rPr>
              <a:t>Путь от демонстратора к полезному продукту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627632"/>
            <a:ext cx="106070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Приоритеты идут от надёжности распознавания к расширению сценариев и масштабированию.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59152"/>
            <a:ext cx="2468880" cy="2971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59152"/>
            <a:ext cx="54864" cy="29718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651760"/>
            <a:ext cx="1920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Aptos"/>
              </a:rPr>
              <a:t>0–4 недели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54096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Базовая стабильность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22191"/>
            <a:ext cx="1874519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Набор тестовых видео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Latency/FPS telemetry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UX-polish камеры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3858768"/>
            <a:ext cx="283464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9856" y="2359152"/>
            <a:ext cx="2468880" cy="2971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9856" y="2359152"/>
            <a:ext cx="54864" cy="29718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651760"/>
            <a:ext cx="1920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1–2 месяца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3054096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Качество словаря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822191"/>
            <a:ext cx="1874519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Датасет с носителями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Калибровка confidence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Языковая валидация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16168" y="3858768"/>
            <a:ext cx="283464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2359152"/>
            <a:ext cx="2468880" cy="2971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359152"/>
            <a:ext cx="54864" cy="2971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2651760"/>
            <a:ext cx="1920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ptos"/>
              </a:rPr>
              <a:t>2–4 месяца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054096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Productisation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822191"/>
            <a:ext cx="1874519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Профили пользователей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Сессии диалога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Экспорт истории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69096" y="3858768"/>
            <a:ext cx="283464" cy="0"/>
          </a:xfrm>
          <a:prstGeom prst="line">
            <a:avLst/>
          </a:prstGeom>
          <a:ln w="25400">
            <a:solidFill>
              <a:srgbClr val="29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25711" y="2359152"/>
            <a:ext cx="2468880" cy="2971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5711" y="2359152"/>
            <a:ext cx="54864" cy="2971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1" y="2651760"/>
            <a:ext cx="19202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4+ месяцев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1" y="3054096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1" y="3822191"/>
            <a:ext cx="1874519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Mobile packaging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3D avatar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Aptos"/>
              </a:defRPr>
            </a:pPr>
            <a:r>
              <a:t>•  B2B/API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0644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Фокус: сначала подтверждённая полезность и доверие, затем функциональная ширина и масштабирование.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286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ФИНАЛ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2823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31520"/>
            <a:ext cx="5486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 Display"/>
              </a:rPr>
              <a:t>SignBridge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7498079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 Display"/>
              </a:rPr>
              <a:t>Технология должна уменьшать барьеры,
а не добавлять задержку между людьми.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68580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Следующий шаг: совместная валидация с носителями жестового языка и измерение качества в реальных сценариях.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D4FF"/>
                </a:solidFill>
                <a:latin typeface="Aptos Display"/>
              </a:rPr>
              <a:t>Realtime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38912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контур руки в браузере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977639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  <a:latin typeface="Aptos Display"/>
              </a:rPr>
              <a:t>Local-first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8912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модель и обработка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3977639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8B5CF6"/>
                </a:solidFill>
                <a:latin typeface="Aptos Display"/>
              </a:rPr>
              <a:t>Open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438912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REST + WebSocket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051560"/>
            <a:ext cx="2331720" cy="3383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solidFill>
              <a:srgbClr val="29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53728" y="1627632"/>
            <a:ext cx="713232" cy="713232"/>
          </a:xfrm>
          <a:prstGeom prst="ellipse">
            <a:avLst/>
          </a:prstGeom>
          <a:solidFill>
            <a:srgbClr val="17203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856231"/>
            <a:ext cx="6126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D4FF"/>
                </a:solidFill>
                <a:latin typeface="Aptos Display"/>
              </a:rPr>
              <a:t>SB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761488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 Display"/>
              </a:rPr>
              <a:t>Спасибо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264408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Вопросы и обсуждение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3794760"/>
            <a:ext cx="1463040" cy="283464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8824" y="3854196"/>
            <a:ext cx="1316736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0D4FF"/>
                </a:solidFill>
                <a:latin typeface="Aptos"/>
              </a:rPr>
              <a:t>SignBridge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